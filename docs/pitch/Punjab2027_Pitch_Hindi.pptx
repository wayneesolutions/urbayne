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hi-IN" altLang="en-US" sz="48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पूरा अभियान, एक जगह</a:t>
            </a:r>
            <a:endParaRPr lang="hi-IN" sz="4800" dirty="0"/>
          </a:p>
        </p:txBody>
      </p:sp>
      <p:sp>
        <p:nvSpPr>
          <p:cNvPr id="3" name="subtitle"/>
          <p:cNvSpPr txBox="1"/>
          <p:nvPr/>
        </p:nvSpPr>
        <p:spPr>
          <a:xfrm>
            <a:off x="731520" y="32004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hi-IN" altLang="en-US" sz="2400" dirty="0">
                <a:solidFill>
                  <a:srgbClr val="CADCF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पंजाब विधान सभा 2027 के लिए चुनाव अभियान प्लेटफ़ॉर्म</a:t>
            </a:r>
            <a:endParaRPr lang="hi-IN" sz="2400" dirty="0"/>
          </a:p>
        </p:txBody>
      </p:sp>
      <p:sp>
        <p:nvSpPr>
          <p:cNvPr id="4" name="by"/>
          <p:cNvSpPr txBox="1"/>
          <p:nvPr/>
        </p:nvSpPr>
        <p:spPr>
          <a:xfrm>
            <a:off x="731520" y="5669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hi-IN" altLang="en-US" sz="1800" b="1" dirty="0">
                <a:solidFill>
                  <a:srgbClr val="E8A31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Wayne E Solutions</a:t>
            </a:r>
            <a:endParaRPr lang="hi-IN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users"/>
          <p:cNvSpPr/>
          <p:nvPr/>
        </p:nvSpPr>
        <p:spPr>
          <a:xfrm>
            <a:off x="731520" y="640080"/>
            <a:ext cx="1005840" cy="100584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3" name="icon-users"/>
          <p:cNvSpPr/>
          <p:nvPr/>
        </p:nvSpPr>
        <p:spPr>
          <a:xfrm>
            <a:off x="1005840" y="896112"/>
            <a:ext cx="457200" cy="502920"/>
          </a:xfrm>
          <a:prstGeom prst="flowChartMultidocumen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2011680" y="54864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hi-IN" altLang="en-US" sz="3600" b="1" dirty="0">
                <a:solidFill>
                  <a:srgbClr val="1E22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अभियान के सारे काम एक प्लेटफ़ॉर्म पर</a:t>
            </a:r>
            <a:endParaRPr lang="hi-IN" sz="3600" dirty="0"/>
          </a:p>
        </p:txBody>
      </p:sp>
      <p:sp>
        <p:nvSpPr>
          <p:cNvPr id="5" name="body"/>
          <p:cNvSpPr txBox="1"/>
          <p:nvPr/>
        </p:nvSpPr>
        <p:spPr>
          <a:xfrm>
            <a:off x="2011680" y="2103120"/>
            <a:ext cx="9418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hi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मतदाता से संपर्क: पेज, सवाल-जवाब, कॉल और SMS</a:t>
            </a:r>
            <a:endParaRPr lang="hi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hi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ज़मीनी काम: बूथ वर्कर, कार्यक्रम, वॉलंटियर</a:t>
            </a:r>
            <a:endParaRPr lang="hi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hi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खर्च: चुनाव खर्च का रजिस्टर और रसीदें</a:t>
            </a:r>
            <a:endParaRPr lang="hi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hi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नतीजे: मतदान दिवस और गिनती का हिसाब</a:t>
            </a:r>
            <a:endParaRPr lang="hi-IN" sz="2400" dirty="0"/>
          </a:p>
        </p:txBody>
      </p:sp>
      <p:sp>
        <p:nvSpPr>
          <p:cNvPr id="6" name="page"/>
          <p:cNvSpPr txBox="1"/>
          <p:nvPr/>
        </p:nvSpPr>
        <p:spPr>
          <a:xfrm>
            <a:off x="10972800" y="6309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i-IN" altLang="en-US" sz="1200" dirty="0">
                <a:solidFill>
                  <a:srgbClr val="5B557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</a:t>
            </a:r>
            <a:endParaRPr lang="hi-IN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phone"/>
          <p:cNvSpPr/>
          <p:nvPr/>
        </p:nvSpPr>
        <p:spPr>
          <a:xfrm>
            <a:off x="731520" y="640080"/>
            <a:ext cx="1005840" cy="100584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3" name="icon-phone"/>
          <p:cNvSpPr/>
          <p:nvPr/>
        </p:nvSpPr>
        <p:spPr>
          <a:xfrm>
            <a:off x="1005840" y="896112"/>
            <a:ext cx="457200" cy="502920"/>
          </a:xfrm>
          <a:prstGeom prst="round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2011680" y="54864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hi-IN" altLang="en-US" sz="3600" b="1" dirty="0">
                <a:solidFill>
                  <a:srgbClr val="1E22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मतदाता से पंजाबी और हिंदी में बात</a:t>
            </a:r>
            <a:endParaRPr lang="hi-IN" sz="3600" dirty="0"/>
          </a:p>
        </p:txBody>
      </p:sp>
      <p:sp>
        <p:nvSpPr>
          <p:cNvPr id="5" name="body"/>
          <p:cNvSpPr txBox="1"/>
          <p:nvPr/>
        </p:nvSpPr>
        <p:spPr>
          <a:xfrm>
            <a:off x="2011680" y="2103120"/>
            <a:ext cx="9418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hi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बड़े बटनों वाला मोबाइल पेज, आवाज़ में सुनने की सुविधा</a:t>
            </a:r>
            <a:endParaRPr lang="hi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hi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सहायक सिर्फ़ मंज़ूर की गई जानकारी बताता है</a:t>
            </a:r>
            <a:endParaRPr lang="hi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hi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वोट की जगह और तारीख़ के लिए चुनाव आयोग का लिंक</a:t>
            </a:r>
            <a:endParaRPr lang="hi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hi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हर कॉल से पहले नियमों की जाँच</a:t>
            </a:r>
            <a:endParaRPr lang="hi-IN" sz="2400" dirty="0"/>
          </a:p>
        </p:txBody>
      </p:sp>
      <p:sp>
        <p:nvSpPr>
          <p:cNvPr id="6" name="page"/>
          <p:cNvSpPr txBox="1"/>
          <p:nvPr/>
        </p:nvSpPr>
        <p:spPr>
          <a:xfrm>
            <a:off x="10972800" y="6309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i-IN" altLang="en-US" sz="1200" dirty="0">
                <a:solidFill>
                  <a:srgbClr val="5B557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</a:t>
            </a:r>
            <a:endParaRPr lang="hi-IN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map"/>
          <p:cNvSpPr/>
          <p:nvPr/>
        </p:nvSpPr>
        <p:spPr>
          <a:xfrm>
            <a:off x="731520" y="640080"/>
            <a:ext cx="1005840" cy="100584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3" name="icon-map"/>
          <p:cNvSpPr/>
          <p:nvPr/>
        </p:nvSpPr>
        <p:spPr>
          <a:xfrm>
            <a:off x="1005840" y="896112"/>
            <a:ext cx="457200" cy="502920"/>
          </a:xfrm>
          <a:prstGeom prst="flowChartPunchedTape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2011680" y="54864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hi-IN" altLang="en-US" sz="3600" b="1" dirty="0">
                <a:solidFill>
                  <a:srgbClr val="1E22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ज़मीन पर काम, नेट के बिना भी</a:t>
            </a:r>
            <a:endParaRPr lang="hi-IN" sz="3600" dirty="0"/>
          </a:p>
        </p:txBody>
      </p:sp>
      <p:sp>
        <p:nvSpPr>
          <p:cNvPr id="5" name="body"/>
          <p:cNvSpPr txBox="1"/>
          <p:nvPr/>
        </p:nvSpPr>
        <p:spPr>
          <a:xfrm>
            <a:off x="2011680" y="2103120"/>
            <a:ext cx="9418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hi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बूथ वर्कर की ऐप बिना सिग्नल चलती है</a:t>
            </a:r>
            <a:endParaRPr lang="hi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hi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मतदाता सूची की कॉपी से घरों की सूची, स्रोत के सबूत सहित</a:t>
            </a:r>
            <a:endParaRPr lang="hi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hi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नक़्शे पर इलाक़े और काम की प्रगति</a:t>
            </a:r>
            <a:endParaRPr lang="hi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hi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रैली और सभा की इजाज़त का हिसाब</a:t>
            </a:r>
            <a:endParaRPr lang="hi-IN" sz="2400" dirty="0"/>
          </a:p>
        </p:txBody>
      </p:sp>
      <p:sp>
        <p:nvSpPr>
          <p:cNvPr id="6" name="page"/>
          <p:cNvSpPr txBox="1"/>
          <p:nvPr/>
        </p:nvSpPr>
        <p:spPr>
          <a:xfrm>
            <a:off x="10972800" y="6309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i-IN" altLang="en-US" sz="1200" dirty="0">
                <a:solidFill>
                  <a:srgbClr val="5B557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4</a:t>
            </a:r>
            <a:endParaRPr lang="hi-IN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rupee"/>
          <p:cNvSpPr/>
          <p:nvPr/>
        </p:nvSpPr>
        <p:spPr>
          <a:xfrm>
            <a:off x="731520" y="640080"/>
            <a:ext cx="1005840" cy="100584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3" name="icon-rupee"/>
          <p:cNvSpPr/>
          <p:nvPr/>
        </p:nvSpPr>
        <p:spPr>
          <a:xfrm>
            <a:off x="1005840" y="896112"/>
            <a:ext cx="457200" cy="502920"/>
          </a:xfrm>
          <a:prstGeom prst="donu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2011680" y="54864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hi-IN" altLang="en-US" sz="3600" b="1" dirty="0">
                <a:solidFill>
                  <a:srgbClr val="1E22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खर्च का हिसाब तैयार रहे</a:t>
            </a:r>
            <a:endParaRPr lang="hi-IN" sz="3600" dirty="0"/>
          </a:p>
        </p:txBody>
      </p:sp>
      <p:sp>
        <p:nvSpPr>
          <p:cNvPr id="5" name="body"/>
          <p:cNvSpPr txBox="1"/>
          <p:nvPr/>
        </p:nvSpPr>
        <p:spPr>
          <a:xfrm>
            <a:off x="2011680" y="2103120"/>
            <a:ext cx="9418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hi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हर खर्च की रसीद की फ़ोटो के साथ</a:t>
            </a:r>
            <a:endParaRPr lang="hi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hi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बैंक स्टेटमेंट से मिलान: क्या छूटा, तुरंत पता</a:t>
            </a:r>
            <a:endParaRPr lang="hi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hi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खर्च की सीमा के क़रीब पहुँचने पर चेतावनी</a:t>
            </a:r>
            <a:endParaRPr lang="hi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hi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हस्ताक्षर के बाद रजिस्टर का निर्यात</a:t>
            </a:r>
            <a:endParaRPr lang="hi-IN" sz="2400" dirty="0"/>
          </a:p>
        </p:txBody>
      </p:sp>
      <p:sp>
        <p:nvSpPr>
          <p:cNvPr id="6" name="page"/>
          <p:cNvSpPr txBox="1"/>
          <p:nvPr/>
        </p:nvSpPr>
        <p:spPr>
          <a:xfrm>
            <a:off x="10972800" y="6309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i-IN" altLang="en-US" sz="1200" dirty="0">
                <a:solidFill>
                  <a:srgbClr val="5B557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5</a:t>
            </a:r>
            <a:endParaRPr lang="hi-IN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shield"/>
          <p:cNvSpPr/>
          <p:nvPr/>
        </p:nvSpPr>
        <p:spPr>
          <a:xfrm>
            <a:off x="731520" y="640080"/>
            <a:ext cx="1005840" cy="100584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3" name="icon-shield"/>
          <p:cNvSpPr/>
          <p:nvPr/>
        </p:nvSpPr>
        <p:spPr>
          <a:xfrm>
            <a:off x="1005840" y="896112"/>
            <a:ext cx="457200" cy="502920"/>
          </a:xfrm>
          <a:prstGeom prst="flowChartOffpageConnector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2011680" y="54864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hi-IN" altLang="en-US" sz="3600" b="1" dirty="0">
                <a:solidFill>
                  <a:srgbClr val="1E22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नियम प्लेटफ़ॉर्म में ही बने हैं</a:t>
            </a:r>
            <a:endParaRPr lang="hi-IN" sz="3600" dirty="0"/>
          </a:p>
        </p:txBody>
      </p:sp>
      <p:sp>
        <p:nvSpPr>
          <p:cNvPr id="5" name="body"/>
          <p:cNvSpPr txBox="1"/>
          <p:nvPr/>
        </p:nvSpPr>
        <p:spPr>
          <a:xfrm>
            <a:off x="2011680" y="2103120"/>
            <a:ext cx="9418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hi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MCMC प्रमाणपत्र के बिना कोई कॉल या SMS नहीं</a:t>
            </a:r>
            <a:endParaRPr lang="hi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hi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DLT टेम्पलेट के बिना SMS नहीं</a:t>
            </a:r>
            <a:endParaRPr lang="hi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hi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मतदान से 48 घंटे पहले चुप्पी की अवधि</a:t>
            </a:r>
            <a:endParaRPr lang="hi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hi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सहमति और "बंद करो" का सम्मान</a:t>
            </a:r>
            <a:endParaRPr lang="hi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hi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हर अभियान का पढ़ने-योग्य, मुहर लगा सबूत (PDF)</a:t>
            </a:r>
            <a:endParaRPr lang="hi-IN" sz="2400" dirty="0"/>
          </a:p>
        </p:txBody>
      </p:sp>
      <p:sp>
        <p:nvSpPr>
          <p:cNvPr id="6" name="page"/>
          <p:cNvSpPr txBox="1"/>
          <p:nvPr/>
        </p:nvSpPr>
        <p:spPr>
          <a:xfrm>
            <a:off x="10972800" y="6309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i-IN" altLang="en-US" sz="1200" dirty="0">
                <a:solidFill>
                  <a:srgbClr val="5B557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6</a:t>
            </a:r>
            <a:endParaRPr lang="hi-IN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lock"/>
          <p:cNvSpPr/>
          <p:nvPr/>
        </p:nvSpPr>
        <p:spPr>
          <a:xfrm>
            <a:off x="731520" y="640080"/>
            <a:ext cx="1005840" cy="100584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3" name="icon-lock"/>
          <p:cNvSpPr/>
          <p:nvPr/>
        </p:nvSpPr>
        <p:spPr>
          <a:xfrm>
            <a:off x="1005840" y="896112"/>
            <a:ext cx="457200" cy="502920"/>
          </a:xfrm>
          <a:prstGeom prst="round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2011680" y="54864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hi-IN" altLang="en-US" sz="3600" b="1" dirty="0">
                <a:solidFill>
                  <a:srgbClr val="1E22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डेटा की सुरक्षा का वादा</a:t>
            </a:r>
            <a:endParaRPr lang="hi-IN" sz="3600" dirty="0"/>
          </a:p>
        </p:txBody>
      </p:sp>
      <p:sp>
        <p:nvSpPr>
          <p:cNvPr id="5" name="body"/>
          <p:cNvSpPr txBox="1"/>
          <p:nvPr/>
        </p:nvSpPr>
        <p:spPr>
          <a:xfrm>
            <a:off x="2011680" y="2103120"/>
            <a:ext cx="9418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hi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चुनाव के बाद निजी डेटा मिटा दिया जाता है</a:t>
            </a:r>
            <a:endParaRPr lang="hi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hi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जाति या धर्म का कोई डेटा नहीं</a:t>
            </a:r>
            <a:endParaRPr lang="hi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hi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ख़रीदी या चुराई गई सूचियाँ नहीं</a:t>
            </a:r>
            <a:endParaRPr lang="hi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hi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एक सीट, एक ग्राहक</a:t>
            </a:r>
            <a:endParaRPr lang="hi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hi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WhatsApp ऑटोमेशन नहीं</a:t>
            </a:r>
            <a:endParaRPr lang="hi-IN" sz="2400" dirty="0"/>
          </a:p>
        </p:txBody>
      </p:sp>
      <p:sp>
        <p:nvSpPr>
          <p:cNvPr id="6" name="page"/>
          <p:cNvSpPr txBox="1"/>
          <p:nvPr/>
        </p:nvSpPr>
        <p:spPr>
          <a:xfrm>
            <a:off x="10972800" y="6309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i-IN" altLang="en-US" sz="1200" dirty="0">
                <a:solidFill>
                  <a:srgbClr val="5B557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7</a:t>
            </a:r>
            <a:endParaRPr lang="hi-IN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flag"/>
          <p:cNvSpPr/>
          <p:nvPr/>
        </p:nvSpPr>
        <p:spPr>
          <a:xfrm>
            <a:off x="731520" y="640080"/>
            <a:ext cx="1005840" cy="100584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3" name="icon-flag"/>
          <p:cNvSpPr/>
          <p:nvPr/>
        </p:nvSpPr>
        <p:spPr>
          <a:xfrm>
            <a:off x="1005840" y="896112"/>
            <a:ext cx="457200" cy="502920"/>
          </a:xfrm>
          <a:prstGeom prst="rtTriangle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2011680" y="54864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hi-IN" altLang="en-US" sz="3600" b="1" dirty="0">
                <a:solidFill>
                  <a:srgbClr val="1E22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शुरुआत कैसे होती है</a:t>
            </a:r>
            <a:endParaRPr lang="hi-IN" sz="3600" dirty="0"/>
          </a:p>
        </p:txBody>
      </p:sp>
      <p:sp>
        <p:nvSpPr>
          <p:cNvPr id="5" name="body"/>
          <p:cNvSpPr txBox="1"/>
          <p:nvPr/>
        </p:nvSpPr>
        <p:spPr>
          <a:xfrm>
            <a:off x="2011680" y="2103120"/>
            <a:ext cx="9418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hi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1. पंजाब 2027 पैकेज लगाएँ: मसौदा पेज और पहला सर्वे तैयार</a:t>
            </a:r>
            <a:endParaRPr lang="hi-IN" sz="2400" dirty="0"/>
          </a:p>
          <a:p>
            <a:pPr indent="0" marL="0">
              <a:spcAft>
                <a:spcPts val="1400"/>
              </a:spcAft>
              <a:buNone/>
            </a:pPr>
            <a:r>
              <a:rPr lang="hi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2. उम्मीदवार सामग्री भरता और मंज़ूर करता है</a:t>
            </a:r>
            <a:endParaRPr lang="hi-IN" sz="2400" dirty="0"/>
          </a:p>
          <a:p>
            <a:pPr indent="0" marL="0">
              <a:spcAft>
                <a:spcPts val="1400"/>
              </a:spcAft>
              <a:buNone/>
            </a:pPr>
            <a:r>
              <a:rPr lang="hi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3. MCMC प्रमाणपत्र और DLT पंजीकरण</a:t>
            </a:r>
            <a:endParaRPr lang="hi-IN" sz="2400" dirty="0"/>
          </a:p>
          <a:p>
            <a:pPr indent="0" marL="0">
              <a:spcAft>
                <a:spcPts val="1400"/>
              </a:spcAft>
              <a:buNone/>
            </a:pPr>
            <a:r>
              <a:rPr lang="hi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4. एक बूथ पर छोटा टेस्ट, फिर पूरा अभियान</a:t>
            </a:r>
            <a:endParaRPr lang="hi-IN" sz="2400" dirty="0"/>
          </a:p>
        </p:txBody>
      </p:sp>
      <p:sp>
        <p:nvSpPr>
          <p:cNvPr id="6" name="page"/>
          <p:cNvSpPr txBox="1"/>
          <p:nvPr/>
        </p:nvSpPr>
        <p:spPr>
          <a:xfrm>
            <a:off x="10972800" y="6309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i-IN" altLang="en-US" sz="1200" dirty="0">
                <a:solidFill>
                  <a:srgbClr val="5B557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8</a:t>
            </a:r>
            <a:endParaRPr lang="hi-IN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hi-IN" altLang="en-US" sz="44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बात करने का अगला क़दम</a:t>
            </a:r>
            <a:endParaRPr lang="hi-IN" sz="4400" dirty="0"/>
          </a:p>
        </p:txBody>
      </p:sp>
      <p:sp>
        <p:nvSpPr>
          <p:cNvPr id="3" name="subtitle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hi-IN" altLang="en-US" sz="2400" dirty="0">
                <a:solidFill>
                  <a:srgbClr val="CADCF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एक डेमो अभियान देखें: मतदाता पेज, डैशबोर्ड और सबूत का PDF</a:t>
            </a:r>
            <a:endParaRPr lang="hi-IN" sz="2400" dirty="0"/>
          </a:p>
        </p:txBody>
      </p:sp>
      <p:sp>
        <p:nvSpPr>
          <p:cNvPr id="4" name="by"/>
          <p:cNvSpPr txBox="1"/>
          <p:nvPr/>
        </p:nvSpPr>
        <p:spPr>
          <a:xfrm>
            <a:off x="731520" y="5669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hi-IN" altLang="en-US" sz="1800" b="1" dirty="0">
                <a:solidFill>
                  <a:srgbClr val="E8A31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Wayne E Solutions</a:t>
            </a:r>
            <a:endParaRPr lang="hi-IN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Wayne E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पूरा अभियान, एक जगह</dc:title>
  <dc:subject>PptxGenJS Presentation</dc:subject>
  <dc:creator>Wayne E Solutions</dc:creator>
  <cp:lastModifiedBy>Wayne E Solutions</cp:lastModifiedBy>
  <cp:revision>1</cp:revision>
  <dcterms:created xsi:type="dcterms:W3CDTF">2026-10-07T09:57:07Z</dcterms:created>
  <dcterms:modified xsi:type="dcterms:W3CDTF">2026-10-07T09:57:07Z</dcterms:modified>
</cp:coreProperties>
</file>